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varScale="1">
        <p:scale>
          <a:sx n="82" d="100"/>
          <a:sy n="82" d="100"/>
        </p:scale>
        <p:origin x="9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7/13/2026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7/13/2026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Calibri" panose="020F0502020204030204" pitchFamily="34" charset="0"/>
              </a:defRPr>
            </a:lvl1pPr>
          </a:lstStyle>
          <a:p>
            <a:fld id="{C764DE79-268F-4C1A-8933-263129D2AF90}" type="datetimeFigureOut">
              <a:rPr lang="en-US" smtClean="0"/>
              <a:pPr/>
              <a:t>7/13/2026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Calibri" panose="020F0502020204030204" pitchFamily="34" charset="0"/>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Calibri" panose="020F050202020403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a:xfrm>
            <a:off x="838200" y="365125"/>
            <a:ext cx="10515600" cy="791871"/>
          </a:xfrm>
        </p:spPr>
        <p:txBody>
          <a:bodyPr/>
          <a:lstStyle/>
          <a:p>
            <a:r>
              <a:rPr lang="nb-NO" b="1" dirty="0" err="1"/>
              <a:t>Overview</a:t>
            </a:r>
            <a:endParaRPr lang="nb-NO" b="1"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205273" y="1156996"/>
            <a:ext cx="4388245" cy="5019967"/>
          </a:xfrm>
        </p:spPr>
        <p:txBody>
          <a:bodyPr>
            <a:noAutofit/>
          </a:bodyPr>
          <a:lstStyle/>
          <a:p>
            <a:pPr>
              <a:lnSpc>
                <a:spcPct val="100000"/>
              </a:lnSpc>
            </a:pPr>
            <a:r>
              <a:rPr lang="en-US" sz="1600" b="1" dirty="0"/>
              <a:t>Decreased Conversion Rates: </a:t>
            </a:r>
            <a:r>
              <a:rPr lang="en-US" sz="1600" dirty="0"/>
              <a:t>The conversion rate demonstrated a strong rebound in December, reaching 10.2%, despite a notable dip to 5.0% in October.</a:t>
            </a:r>
          </a:p>
          <a:p>
            <a:pPr>
              <a:lnSpc>
                <a:spcPct val="100000"/>
              </a:lnSpc>
            </a:pPr>
            <a:r>
              <a:rPr lang="en-US" sz="1600" b="1" dirty="0"/>
              <a:t>Reduced Customer Engagement:</a:t>
            </a:r>
          </a:p>
          <a:p>
            <a:pPr lvl="1">
              <a:lnSpc>
                <a:spcPct val="100000"/>
              </a:lnSpc>
            </a:pPr>
            <a:r>
              <a:rPr lang="en-US" sz="1600" dirty="0"/>
              <a:t>There is a decline in overall social media engagement, with views dropping throughout the year.</a:t>
            </a:r>
          </a:p>
          <a:p>
            <a:pPr lvl="1">
              <a:lnSpc>
                <a:spcPct val="100000"/>
              </a:lnSpc>
            </a:pPr>
            <a:r>
              <a:rPr lang="en-US" sz="1600" dirty="0"/>
              <a:t>While clicks and likes are low compared to views, the click-through rate stands at 15.37%, meaning that engaged users are still interacting effectively.</a:t>
            </a:r>
          </a:p>
          <a:p>
            <a:pPr>
              <a:lnSpc>
                <a:spcPct val="100000"/>
              </a:lnSpc>
            </a:pPr>
            <a:r>
              <a:rPr lang="en-US" sz="1600" b="1" dirty="0"/>
              <a:t>Customer Feedback Analysis:</a:t>
            </a:r>
          </a:p>
          <a:p>
            <a:pPr lvl="1">
              <a:lnSpc>
                <a:spcPct val="100000"/>
              </a:lnSpc>
            </a:pPr>
            <a:r>
              <a:rPr lang="en-US" sz="1600" dirty="0"/>
              <a:t>Customer ratings have remained consistent, averaging around 3.7 throughout the year.</a:t>
            </a:r>
          </a:p>
          <a:p>
            <a:pPr lvl="1">
              <a:lnSpc>
                <a:spcPct val="100000"/>
              </a:lnSpc>
            </a:pPr>
            <a:r>
              <a:rPr lang="en-US" sz="1600" dirty="0"/>
              <a:t>Although stable, the average rating is below the target of 4.0, suggesting a need for focused improvements in customer satisfaction, for products below 3,5.</a:t>
            </a:r>
            <a:endParaRPr lang="nb-NO" sz="1600" dirty="0"/>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latin typeface="Calibri" panose="020F0502020204030204" pitchFamily="34" charset="0"/>
            </a:endParaRPr>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latin typeface="Calibri" panose="020F0502020204030204" pitchFamily="34" charset="0"/>
            </a:endParaRPr>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a:xfrm>
            <a:off x="838200" y="365126"/>
            <a:ext cx="10515600" cy="820846"/>
          </a:xfrm>
        </p:spPr>
        <p:txBody>
          <a:bodyPr/>
          <a:lstStyle/>
          <a:p>
            <a:r>
              <a:rPr lang="nb-NO" b="1" dirty="0" err="1"/>
              <a:t>Decreased</a:t>
            </a:r>
            <a:r>
              <a:rPr lang="nb-NO" b="1"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a:xfrm>
            <a:off x="494522" y="1296955"/>
            <a:ext cx="5525278" cy="5346441"/>
          </a:xfrm>
        </p:spPr>
        <p:txBody>
          <a:bodyPr>
            <a:noAutofit/>
          </a:bodyPr>
          <a:lstStyle/>
          <a:p>
            <a:pPr>
              <a:lnSpc>
                <a:spcPct val="100000"/>
              </a:lnSpc>
            </a:pPr>
            <a:r>
              <a:rPr lang="en-US" sz="1600" b="1" dirty="0"/>
              <a:t>General Conversion Trend:</a:t>
            </a:r>
          </a:p>
          <a:p>
            <a:pPr lvl="1">
              <a:lnSpc>
                <a:spcPct val="100000"/>
              </a:lnSpc>
            </a:pPr>
            <a:r>
              <a:rPr lang="en-US" sz="1600"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00000"/>
              </a:lnSpc>
            </a:pPr>
            <a:r>
              <a:rPr lang="en-US" sz="1600" b="1" dirty="0"/>
              <a:t>Lowest Conversion Month:</a:t>
            </a:r>
          </a:p>
          <a:p>
            <a:pPr lvl="1">
              <a:lnSpc>
                <a:spcPct val="100000"/>
              </a:lnSpc>
            </a:pPr>
            <a:r>
              <a:rPr lang="en-US" sz="1600"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00000"/>
              </a:lnSpc>
            </a:pPr>
            <a:r>
              <a:rPr lang="en-US" sz="1600" b="1" dirty="0"/>
              <a:t>Highest Conversion Rates:</a:t>
            </a:r>
          </a:p>
          <a:p>
            <a:pPr lvl="1">
              <a:lnSpc>
                <a:spcPct val="100000"/>
              </a:lnSpc>
            </a:pPr>
            <a:r>
              <a:rPr lang="en-US" sz="1600"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latin typeface="Calibri" panose="020F0502020204030204" pitchFamily="34" charset="0"/>
            </a:endParaRPr>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latin typeface="Calibri" panose="020F0502020204030204" pitchFamily="34" charset="0"/>
            </a:endParaRPr>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a:xfrm>
            <a:off x="838200" y="365126"/>
            <a:ext cx="10515600" cy="931830"/>
          </a:xfrm>
        </p:spPr>
        <p:txBody>
          <a:bodyPr/>
          <a:lstStyle/>
          <a:p>
            <a:r>
              <a:rPr lang="en-US" b="1" dirty="0"/>
              <a:t>Reduced Customer Engagement</a:t>
            </a:r>
            <a:endParaRPr lang="nb-NO" b="1"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a:xfrm>
            <a:off x="653143" y="1455576"/>
            <a:ext cx="5366657" cy="4721387"/>
          </a:xfrm>
        </p:spPr>
        <p:txBody>
          <a:bodyPr>
            <a:noAutofit/>
          </a:bodyPr>
          <a:lstStyle/>
          <a:p>
            <a:pPr>
              <a:lnSpc>
                <a:spcPct val="100000"/>
              </a:lnSpc>
            </a:pPr>
            <a:r>
              <a:rPr lang="en-US" sz="1600" b="1" dirty="0"/>
              <a:t>Declining Views:</a:t>
            </a:r>
          </a:p>
          <a:p>
            <a:pPr lvl="1">
              <a:lnSpc>
                <a:spcPct val="100000"/>
              </a:lnSpc>
            </a:pPr>
            <a:r>
              <a:rPr lang="en-US" sz="1600" dirty="0"/>
              <a:t>Views peaked in February and July but declined from August and on, indicating reduced audience engagement in the later half of the year.</a:t>
            </a:r>
          </a:p>
          <a:p>
            <a:pPr>
              <a:lnSpc>
                <a:spcPct val="100000"/>
              </a:lnSpc>
            </a:pPr>
            <a:r>
              <a:rPr lang="en-US" sz="1600" b="1" dirty="0"/>
              <a:t>Low Interaction Rates:</a:t>
            </a:r>
          </a:p>
          <a:p>
            <a:pPr lvl="1">
              <a:lnSpc>
                <a:spcPct val="100000"/>
              </a:lnSpc>
            </a:pPr>
            <a:r>
              <a:rPr lang="en-US" sz="1600" dirty="0"/>
              <a:t>Clicks and likes remained consistently low compared to views, suggesting the need for more engaging content or stronger calls to action.</a:t>
            </a:r>
          </a:p>
          <a:p>
            <a:pPr>
              <a:lnSpc>
                <a:spcPct val="100000"/>
              </a:lnSpc>
            </a:pPr>
            <a:r>
              <a:rPr lang="en-US" sz="1600" b="1" dirty="0"/>
              <a:t>Content Type Performance:</a:t>
            </a:r>
          </a:p>
          <a:p>
            <a:pPr lvl="1">
              <a:lnSpc>
                <a:spcPct val="100000"/>
              </a:lnSpc>
            </a:pPr>
            <a:r>
              <a:rPr lang="en-US" sz="1600" dirty="0"/>
              <a:t>Blog content drove the most views, especially in April and July, while social media and video content maintained steady but slightly lower engagement.</a:t>
            </a:r>
            <a:endParaRPr lang="nb-NO" sz="1600"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a:xfrm>
            <a:off x="838200" y="365126"/>
            <a:ext cx="10515600" cy="959822"/>
          </a:xfrm>
        </p:spPr>
        <p:txBody>
          <a:bodyPr/>
          <a:lstStyle/>
          <a:p>
            <a:r>
              <a:rPr lang="nb-NO" b="1" dirty="0" err="1"/>
              <a:t>Customer</a:t>
            </a:r>
            <a:r>
              <a:rPr lang="nb-NO" b="1"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a:xfrm>
            <a:off x="643812" y="1474236"/>
            <a:ext cx="6064898" cy="5018637"/>
          </a:xfrm>
        </p:spPr>
        <p:txBody>
          <a:bodyPr>
            <a:noAutofit/>
          </a:bodyPr>
          <a:lstStyle/>
          <a:p>
            <a:pPr>
              <a:lnSpc>
                <a:spcPct val="100000"/>
              </a:lnSpc>
            </a:pPr>
            <a:r>
              <a:rPr lang="en-US" sz="1600" b="1" dirty="0"/>
              <a:t>Customer Ratings Distribution:</a:t>
            </a:r>
          </a:p>
          <a:p>
            <a:pPr lvl="1">
              <a:lnSpc>
                <a:spcPct val="100000"/>
              </a:lnSpc>
            </a:pPr>
            <a:r>
              <a:rPr lang="en-US" sz="1600"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00000"/>
              </a:lnSpc>
            </a:pPr>
            <a:r>
              <a:rPr lang="en-US" sz="1600" b="1" dirty="0"/>
              <a:t>Sentiment Analysis:</a:t>
            </a:r>
          </a:p>
          <a:p>
            <a:pPr lvl="1">
              <a:lnSpc>
                <a:spcPct val="100000"/>
              </a:lnSpc>
            </a:pPr>
            <a:r>
              <a:rPr lang="en-US" sz="1600"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00000"/>
              </a:lnSpc>
            </a:pPr>
            <a:r>
              <a:rPr lang="en-US" sz="1600" b="1" dirty="0"/>
              <a:t>Opportunity for Improvement:</a:t>
            </a:r>
          </a:p>
          <a:p>
            <a:pPr lvl="1">
              <a:lnSpc>
                <a:spcPct val="100000"/>
              </a:lnSpc>
            </a:pPr>
            <a:r>
              <a:rPr lang="en-US" sz="1600"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sz="1600"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a:xfrm>
            <a:off x="839788" y="365126"/>
            <a:ext cx="10515600" cy="823912"/>
          </a:xfrm>
        </p:spPr>
        <p:txBody>
          <a:bodyPr/>
          <a:lstStyle/>
          <a:p>
            <a:r>
              <a:rPr lang="nb-NO" b="1" dirty="0"/>
              <a:t>Goals &amp; </a:t>
            </a:r>
            <a:r>
              <a:rPr lang="nb-NO" b="1" dirty="0" err="1"/>
              <a:t>Actions</a:t>
            </a:r>
            <a:endParaRPr lang="nb-NO" b="1"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a:xfrm>
            <a:off x="814386" y="1205510"/>
            <a:ext cx="5180013" cy="440937"/>
          </a:xfrm>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634482" y="1805279"/>
            <a:ext cx="5294603" cy="3987800"/>
          </a:xfrm>
        </p:spPr>
        <p:txBody>
          <a:bodyPr>
            <a:noAutofit/>
          </a:bodyPr>
          <a:lstStyle/>
          <a:p>
            <a:pPr>
              <a:lnSpc>
                <a:spcPct val="100000"/>
              </a:lnSpc>
            </a:pPr>
            <a:r>
              <a:rPr lang="en-US" sz="1400" b="1" dirty="0"/>
              <a:t>Increase Conversion Rates:</a:t>
            </a:r>
          </a:p>
          <a:p>
            <a:pPr lvl="1">
              <a:lnSpc>
                <a:spcPct val="100000"/>
              </a:lnSpc>
            </a:pPr>
            <a:r>
              <a:rPr lang="en-US" sz="1400" b="1" dirty="0"/>
              <a:t>Goal: </a:t>
            </a:r>
            <a:r>
              <a:rPr lang="en-US" sz="1400" dirty="0"/>
              <a:t>Identify factors impacting the conversion rate and provide recommendations to improve it.</a:t>
            </a:r>
          </a:p>
          <a:p>
            <a:pPr lvl="1">
              <a:lnSpc>
                <a:spcPct val="100000"/>
              </a:lnSpc>
            </a:pPr>
            <a:r>
              <a:rPr lang="en-US" sz="1400" b="1" dirty="0"/>
              <a:t>Insight: </a:t>
            </a:r>
            <a:r>
              <a:rPr lang="en-US" sz="1400" dirty="0"/>
              <a:t>Highlight key stages where visitors drop off and suggest improvements to optimize the conversion funnel.</a:t>
            </a:r>
          </a:p>
          <a:p>
            <a:pPr>
              <a:lnSpc>
                <a:spcPct val="100000"/>
              </a:lnSpc>
            </a:pPr>
            <a:r>
              <a:rPr lang="en-US" sz="1400" b="1" dirty="0"/>
              <a:t>Enhance Customer Engagement:</a:t>
            </a:r>
            <a:endParaRPr lang="en-US" sz="1400" dirty="0"/>
          </a:p>
          <a:p>
            <a:pPr lvl="1">
              <a:lnSpc>
                <a:spcPct val="100000"/>
              </a:lnSpc>
            </a:pPr>
            <a:r>
              <a:rPr lang="en-US" sz="1400" b="1" dirty="0"/>
              <a:t>Goal:</a:t>
            </a:r>
            <a:r>
              <a:rPr lang="en-US" sz="1400" dirty="0"/>
              <a:t> Determine which types of content drive the highest engagement. </a:t>
            </a:r>
          </a:p>
          <a:p>
            <a:pPr lvl="1">
              <a:lnSpc>
                <a:spcPct val="100000"/>
              </a:lnSpc>
            </a:pPr>
            <a:r>
              <a:rPr lang="en-US" sz="1400" b="1" dirty="0"/>
              <a:t>Insight:</a:t>
            </a:r>
            <a:r>
              <a:rPr lang="en-US" sz="1400" dirty="0"/>
              <a:t> Analyze interaction levels with different types of marketing content to inform better content strategies.</a:t>
            </a:r>
          </a:p>
          <a:p>
            <a:pPr>
              <a:lnSpc>
                <a:spcPct val="100000"/>
              </a:lnSpc>
            </a:pPr>
            <a:r>
              <a:rPr lang="en-US" sz="1400" b="1" dirty="0"/>
              <a:t>Improve Customer Feedback Scores:</a:t>
            </a:r>
            <a:endParaRPr lang="en-US" sz="1400" dirty="0"/>
          </a:p>
          <a:p>
            <a:pPr lvl="1">
              <a:lnSpc>
                <a:spcPct val="100000"/>
              </a:lnSpc>
            </a:pPr>
            <a:r>
              <a:rPr lang="en-US" sz="1400" b="1" dirty="0"/>
              <a:t>Goal:</a:t>
            </a:r>
            <a:r>
              <a:rPr lang="en-US" sz="1400" dirty="0"/>
              <a:t> Understand common themes in customer reviews and provide actionable insights.</a:t>
            </a:r>
          </a:p>
          <a:p>
            <a:pPr lvl="1">
              <a:lnSpc>
                <a:spcPct val="100000"/>
              </a:lnSpc>
            </a:pPr>
            <a:r>
              <a:rPr lang="en-US" sz="1400" b="1" dirty="0"/>
              <a:t>Insight:</a:t>
            </a:r>
            <a:r>
              <a:rPr lang="en-US" sz="1400"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a:xfrm>
            <a:off x="6096000" y="1205509"/>
            <a:ext cx="5183188" cy="440937"/>
          </a:xfrm>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096000" y="1805279"/>
            <a:ext cx="5687008" cy="4211984"/>
          </a:xfrm>
        </p:spPr>
        <p:txBody>
          <a:bodyPr>
            <a:noAutofit/>
          </a:bodyPr>
          <a:lstStyle/>
          <a:p>
            <a:pPr>
              <a:lnSpc>
                <a:spcPct val="100000"/>
              </a:lnSpc>
            </a:pPr>
            <a:r>
              <a:rPr lang="nb-NO" sz="1400" b="1" dirty="0" err="1"/>
              <a:t>Increase</a:t>
            </a:r>
            <a:r>
              <a:rPr lang="nb-NO" sz="1400" b="1" dirty="0"/>
              <a:t> Conversion Rates:</a:t>
            </a:r>
          </a:p>
          <a:p>
            <a:pPr lvl="1">
              <a:lnSpc>
                <a:spcPct val="100000"/>
              </a:lnSpc>
            </a:pPr>
            <a:r>
              <a:rPr lang="en-US" sz="1400" u="sng" dirty="0"/>
              <a:t>Target High-Performing Product Categories</a:t>
            </a:r>
            <a:r>
              <a:rPr lang="en-US" sz="1400" dirty="0"/>
              <a:t>: Focus marketing efforts on products with demonstrated high conversion rates, such as Kayaks, Ski Boots, and Baseball Gloves. Implement seasonal promotions or personalized campaigns during peak months (e.g., January and September) to capitalize on these trends.</a:t>
            </a:r>
            <a:endParaRPr lang="nb-NO" sz="1400" dirty="0"/>
          </a:p>
          <a:p>
            <a:pPr>
              <a:lnSpc>
                <a:spcPct val="100000"/>
              </a:lnSpc>
            </a:pPr>
            <a:r>
              <a:rPr lang="nb-NO" sz="1400" b="1" dirty="0" err="1"/>
              <a:t>Enhance</a:t>
            </a:r>
            <a:r>
              <a:rPr lang="nb-NO" sz="1400" b="1" dirty="0"/>
              <a:t> </a:t>
            </a:r>
            <a:r>
              <a:rPr lang="nb-NO" sz="1400" b="1" dirty="0" err="1"/>
              <a:t>Customer</a:t>
            </a:r>
            <a:r>
              <a:rPr lang="nb-NO" sz="1400" b="1" dirty="0"/>
              <a:t> </a:t>
            </a:r>
            <a:r>
              <a:rPr lang="nb-NO" sz="1400" b="1" dirty="0" err="1"/>
              <a:t>Engagement</a:t>
            </a:r>
            <a:r>
              <a:rPr lang="nb-NO" sz="1400" b="1" dirty="0"/>
              <a:t>:</a:t>
            </a:r>
          </a:p>
          <a:p>
            <a:pPr lvl="1">
              <a:lnSpc>
                <a:spcPct val="100000"/>
              </a:lnSpc>
            </a:pPr>
            <a:r>
              <a:rPr lang="en-US" sz="1400" u="sng" dirty="0"/>
              <a:t>Revitalize Content Strategy</a:t>
            </a:r>
            <a:r>
              <a:rPr lang="en-US" sz="14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endParaRPr lang="nb-NO" sz="1400" dirty="0"/>
          </a:p>
          <a:p>
            <a:pPr>
              <a:lnSpc>
                <a:spcPct val="100000"/>
              </a:lnSpc>
            </a:pPr>
            <a:r>
              <a:rPr lang="nb-NO" sz="1400" b="1" dirty="0" err="1"/>
              <a:t>Improve</a:t>
            </a:r>
            <a:r>
              <a:rPr lang="nb-NO" sz="1400" b="1" dirty="0"/>
              <a:t> </a:t>
            </a:r>
            <a:r>
              <a:rPr lang="nb-NO" sz="1400" b="1" dirty="0" err="1"/>
              <a:t>Customer</a:t>
            </a:r>
            <a:r>
              <a:rPr lang="nb-NO" sz="1400" b="1" dirty="0"/>
              <a:t> Feedback Scores:</a:t>
            </a:r>
          </a:p>
          <a:p>
            <a:pPr lvl="1">
              <a:lnSpc>
                <a:spcPct val="100000"/>
              </a:lnSpc>
            </a:pPr>
            <a:r>
              <a:rPr lang="en-US" sz="1400" u="sng" dirty="0"/>
              <a:t>Address Mixed and Negative Feedback: </a:t>
            </a:r>
            <a:r>
              <a:rPr lang="en-US" sz="14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14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121</TotalTime>
  <Words>786</Words>
  <Application>Microsoft Office PowerPoint</Application>
  <PresentationFormat>Widescreen</PresentationFormat>
  <Paragraphs>49</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Ayush Aggarwal</cp:lastModifiedBy>
  <cp:revision>2</cp:revision>
  <dcterms:created xsi:type="dcterms:W3CDTF">2024-09-03T15:16:05Z</dcterms:created>
  <dcterms:modified xsi:type="dcterms:W3CDTF">2026-07-13T18:16:43Z</dcterms:modified>
</cp:coreProperties>
</file>